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Heebo" pitchFamily="2" charset="-79"/>
      <p:regular r:id="rId9"/>
    </p:embeddedFont>
    <p:embeddedFont>
      <p:font typeface="Heebo Bold" panose="020B0604020202020204" charset="-79"/>
      <p:regular r:id="rId10"/>
    </p:embeddedFont>
    <p:embeddedFont>
      <p:font typeface="Heebo Light" pitchFamily="2" charset="-79"/>
      <p:regular r:id="rId11"/>
    </p:embeddedFont>
    <p:embeddedFont>
      <p:font typeface="Heebo Medium" pitchFamily="2" charset="-79"/>
      <p:regular r:id="rId12"/>
    </p:embeddedFont>
    <p:embeddedFont>
      <p:font typeface="Heebo SemiBold" panose="020B0604020202020204" charset="-79"/>
      <p:regular r:id="rId13"/>
    </p:embeddedFont>
    <p:embeddedFont>
      <p:font typeface="Montserrat Medium" panose="00000600000000000000" pitchFamily="2"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19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77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answer: for the provided move (144 units, 24.6 m3, 2,495 kg) only the 20 ft container works in one trip. The rest of the deck shows why the obvious math is not enough and how we plan the load.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raw volume and weight of every SKU x quantity against each vehicle. T1 needs 157% of volume, T2 105%, T3 68%. Payload is never the constraint (max 71%), because the load is light and bulky at about 101 kg per cubic metre.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of 144 units are upright-only (14.5 m3, 59% of volume). Our constraint-aware greedy 3D packer respects orientation, stack-load limits, fragile items, base support and payload. It places the base load but leaves almost no slack, and could not absorb the 8 late items. This is a baseline, not the final optimum; it shows why rules must drive the plan.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feasibility gate on volume, payload and door size. Plan: extreme-point 3D packing with a rule engine; production version adds local search and a C++ solver for speed. Adapt: reserve capacity and fast re-planning. The 80% base-support and planning-buffer values are assumptions to calibrate in a pilot.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 items in the data: H-034 pantry cartons, H-035 floor lamp, H-036 treadmill: 8 units, 1.17 m3 (4.7%), 180 kg (7.2%). Cartons are 109 of 144 units and 10.0 m3. Peak-season benefit is a scaling argument, not a measured number.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adopt the Screen-Plan-Adapt approach, start with data capture, and prove the gain on one route. Be upfront: savings are expressed in vehicles because no cost data was given.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20A0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8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20A0E"/>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3933" y="66011"/>
            <a:ext cx="7105472"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FFFFFF"/>
                </a:solidFill>
                <a:latin typeface="Heebo Medium" pitchFamily="34" charset="0"/>
                <a:ea typeface="Heebo Medium" pitchFamily="34" charset="-122"/>
                <a:cs typeface="Heebo Medium" pitchFamily="34" charset="0"/>
              </a:rPr>
              <a:t>ACE-IT LIVE BUSINESS CHALLENGE · JIIT NOIDA</a:t>
            </a:r>
            <a:endParaRPr lang="en-US" sz="1200" dirty="0"/>
          </a:p>
        </p:txBody>
      </p:sp>
      <p:sp>
        <p:nvSpPr>
          <p:cNvPr id="3" name="Text 1"/>
          <p:cNvSpPr/>
          <p:nvPr/>
        </p:nvSpPr>
        <p:spPr>
          <a:xfrm>
            <a:off x="2089098" y="586110"/>
            <a:ext cx="8588317" cy="1999456"/>
          </a:xfrm>
          <a:prstGeom prst="rect">
            <a:avLst/>
          </a:prstGeom>
          <a:noFill/>
          <a:ln/>
        </p:spPr>
        <p:txBody>
          <a:bodyPr wrap="square" lIns="0" tIns="0" rIns="0" bIns="0" rtlCol="0" anchor="t">
            <a:normAutofit/>
          </a:bodyPr>
          <a:lstStyle/>
          <a:p>
            <a:pPr marL="0" indent="0" algn="l">
              <a:lnSpc>
                <a:spcPct val="80000"/>
              </a:lnSpc>
              <a:buNone/>
            </a:pPr>
            <a:r>
              <a:rPr lang="en-US" sz="6000" kern="100" spc="-287" dirty="0">
                <a:solidFill>
                  <a:srgbClr val="FFFFFF"/>
                </a:solidFill>
                <a:latin typeface="Montserrat SemiBold" pitchFamily="34" charset="0"/>
                <a:ea typeface="Montserrat SemiBold" pitchFamily="34" charset="-122"/>
                <a:cs typeface="Montserrat SemiBold" pitchFamily="34" charset="0"/>
              </a:rPr>
              <a:t>Box Space</a:t>
            </a:r>
            <a:r>
              <a:rPr lang="en-US" sz="6000" dirty="0"/>
              <a:t> </a:t>
            </a:r>
            <a:r>
              <a:rPr lang="en-US" sz="6000" kern="100" spc="-287" dirty="0">
                <a:solidFill>
                  <a:srgbClr val="FFFFFF"/>
                </a:solidFill>
                <a:latin typeface="Montserrat SemiBold" pitchFamily="34" charset="0"/>
                <a:ea typeface="Montserrat SemiBold" pitchFamily="34" charset="-122"/>
                <a:cs typeface="Montserrat SemiBold" pitchFamily="34" charset="0"/>
              </a:rPr>
              <a:t>Optimizer</a:t>
            </a:r>
            <a:endParaRPr lang="en-US" sz="6000" dirty="0"/>
          </a:p>
        </p:txBody>
      </p:sp>
      <p:sp>
        <p:nvSpPr>
          <p:cNvPr id="4" name="Shape 2"/>
          <p:cNvSpPr/>
          <p:nvPr/>
        </p:nvSpPr>
        <p:spPr>
          <a:xfrm>
            <a:off x="2141286" y="1260501"/>
            <a:ext cx="7337450" cy="45719"/>
          </a:xfrm>
          <a:prstGeom prst="roundRect">
            <a:avLst>
              <a:gd name="adj" fmla="val 49998"/>
            </a:avLst>
          </a:prstGeom>
          <a:solidFill>
            <a:srgbClr val="3D2A31"/>
          </a:solidFill>
          <a:ln/>
        </p:spPr>
      </p:sp>
      <p:sp>
        <p:nvSpPr>
          <p:cNvPr id="5" name="Text 3"/>
          <p:cNvSpPr/>
          <p:nvPr/>
        </p:nvSpPr>
        <p:spPr>
          <a:xfrm>
            <a:off x="73989" y="1797838"/>
            <a:ext cx="6495887" cy="1287661"/>
          </a:xfrm>
          <a:prstGeom prst="rect">
            <a:avLst/>
          </a:prstGeom>
          <a:noFill/>
          <a:ln/>
        </p:spPr>
        <p:txBody>
          <a:bodyPr wrap="square" lIns="0" tIns="0" rIns="0" bIns="0" rtlCol="0" anchor="t"/>
          <a:lstStyle/>
          <a:p>
            <a:pPr marL="0" indent="0" algn="l">
              <a:lnSpc>
                <a:spcPct val="117000"/>
              </a:lnSpc>
              <a:spcAft>
                <a:spcPts val="1450"/>
              </a:spcAft>
              <a:buNone/>
            </a:pPr>
            <a:r>
              <a:rPr lang="en-US" sz="1700" b="1" dirty="0">
                <a:solidFill>
                  <a:srgbClr val="FFFFFF"/>
                </a:solidFill>
                <a:latin typeface="Heebo Bold" pitchFamily="34" charset="0"/>
                <a:ea typeface="Heebo Bold" pitchFamily="34" charset="-122"/>
                <a:cs typeface="Heebo Bold" pitchFamily="34" charset="0"/>
              </a:rPr>
              <a:t>Aditya Pandey                               Akriti Srivastava </a:t>
            </a:r>
            <a:endParaRPr lang="en-US" sz="1700" dirty="0"/>
          </a:p>
          <a:p>
            <a:pPr marL="0" indent="0" algn="l">
              <a:lnSpc>
                <a:spcPct val="117000"/>
              </a:lnSpc>
              <a:spcAft>
                <a:spcPts val="1450"/>
              </a:spcAft>
              <a:buNone/>
            </a:pPr>
            <a:r>
              <a:rPr lang="en-US" sz="1700" b="1" dirty="0">
                <a:solidFill>
                  <a:srgbClr val="FFFFFF"/>
                </a:solidFill>
                <a:latin typeface="Heebo Bold" pitchFamily="34" charset="0"/>
                <a:ea typeface="Heebo Bold" pitchFamily="34" charset="-122"/>
                <a:cs typeface="Heebo Bold" pitchFamily="34" charset="0"/>
              </a:rPr>
              <a:t>Vibhi Jain                                              Prince </a:t>
            </a:r>
            <a:endParaRPr lang="en-US" sz="1700" dirty="0"/>
          </a:p>
          <a:p>
            <a:pPr marL="0" indent="0" algn="l">
              <a:lnSpc>
                <a:spcPct val="117000"/>
              </a:lnSpc>
              <a:buNone/>
            </a:pPr>
            <a:r>
              <a:rPr lang="en-US" sz="1700" b="1" dirty="0">
                <a:solidFill>
                  <a:srgbClr val="FFFFFF"/>
                </a:solidFill>
                <a:latin typeface="Heebo Bold" pitchFamily="34" charset="0"/>
                <a:ea typeface="Heebo Bold" pitchFamily="34" charset="-122"/>
                <a:cs typeface="Heebo Bold" pitchFamily="34" charset="0"/>
              </a:rPr>
              <a:t>Aayushman Mittal                      Saksham Bharadwaj</a:t>
            </a:r>
            <a:endParaRPr lang="en-US" sz="1700" dirty="0"/>
          </a:p>
        </p:txBody>
      </p:sp>
      <p:sp>
        <p:nvSpPr>
          <p:cNvPr id="6" name="Text 4"/>
          <p:cNvSpPr/>
          <p:nvPr/>
        </p:nvSpPr>
        <p:spPr>
          <a:xfrm>
            <a:off x="408726" y="3903901"/>
            <a:ext cx="6495887" cy="345380"/>
          </a:xfrm>
          <a:prstGeom prst="rect">
            <a:avLst/>
          </a:prstGeom>
          <a:noFill/>
          <a:ln/>
        </p:spPr>
        <p:txBody>
          <a:bodyPr wrap="none" lIns="0" tIns="0" rIns="0" bIns="0" rtlCol="0" anchor="t"/>
          <a:lstStyle/>
          <a:p>
            <a:pPr marL="0" indent="0" algn="l">
              <a:lnSpc>
                <a:spcPct val="113000"/>
              </a:lnSpc>
              <a:buNone/>
            </a:pPr>
            <a:r>
              <a:rPr lang="en-US" sz="2000" kern="100" spc="-50" dirty="0">
                <a:solidFill>
                  <a:srgbClr val="FFFFFF"/>
                </a:solidFill>
                <a:latin typeface="Montserrat Medium" pitchFamily="34" charset="0"/>
                <a:ea typeface="Montserrat Medium" pitchFamily="34" charset="-122"/>
                <a:cs typeface="Montserrat Medium" pitchFamily="34" charset="0"/>
              </a:rPr>
              <a:t>Fit it right, not just fit it.</a:t>
            </a:r>
            <a:endParaRPr lang="en-US" sz="2000" dirty="0"/>
          </a:p>
        </p:txBody>
      </p:sp>
      <p:sp>
        <p:nvSpPr>
          <p:cNvPr id="7" name="Text 5"/>
          <p:cNvSpPr/>
          <p:nvPr/>
        </p:nvSpPr>
        <p:spPr>
          <a:xfrm>
            <a:off x="408726" y="4403834"/>
            <a:ext cx="7105472"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FFFFFF"/>
                </a:solidFill>
                <a:latin typeface="Heebo" pitchFamily="34" charset="0"/>
                <a:ea typeface="Heebo" pitchFamily="34" charset="-122"/>
                <a:cs typeface="Heebo" pitchFamily="34" charset="0"/>
              </a:rPr>
              <a:t>A rule-aware loading planner for real-world logistics.</a:t>
            </a:r>
            <a:endParaRPr lang="en-US" sz="1150" dirty="0"/>
          </a:p>
        </p:txBody>
      </p:sp>
      <p:sp>
        <p:nvSpPr>
          <p:cNvPr id="8" name="Shape 6"/>
          <p:cNvSpPr/>
          <p:nvPr/>
        </p:nvSpPr>
        <p:spPr>
          <a:xfrm>
            <a:off x="711182" y="5407620"/>
            <a:ext cx="10413739" cy="1223367"/>
          </a:xfrm>
          <a:prstGeom prst="roundRect">
            <a:avLst>
              <a:gd name="adj" fmla="val 2647"/>
            </a:avLst>
          </a:prstGeom>
          <a:solidFill>
            <a:srgbClr val="1F1016"/>
          </a:solidFill>
          <a:ln/>
        </p:spPr>
      </p:sp>
      <p:sp>
        <p:nvSpPr>
          <p:cNvPr id="9" name="Text 7"/>
          <p:cNvSpPr/>
          <p:nvPr/>
        </p:nvSpPr>
        <p:spPr>
          <a:xfrm>
            <a:off x="965176" y="5664351"/>
            <a:ext cx="2247844" cy="414437"/>
          </a:xfrm>
          <a:prstGeom prst="rect">
            <a:avLst/>
          </a:prstGeom>
          <a:noFill/>
          <a:ln/>
        </p:spPr>
        <p:txBody>
          <a:bodyPr wrap="none" lIns="0" tIns="0" rIns="0" bIns="0" rtlCol="0" anchor="t"/>
          <a:lstStyle/>
          <a:p>
            <a:pPr marL="0" indent="0" algn="l">
              <a:lnSpc>
                <a:spcPct val="80000"/>
              </a:lnSpc>
              <a:buNone/>
            </a:pPr>
            <a:r>
              <a:rPr lang="en-US" sz="3400" kern="100" spc="-119" dirty="0">
                <a:solidFill>
                  <a:srgbClr val="FF5A7A"/>
                </a:solidFill>
                <a:latin typeface="Montserrat SemiBold" pitchFamily="34" charset="0"/>
                <a:ea typeface="Montserrat SemiBold" pitchFamily="34" charset="-122"/>
                <a:cs typeface="Montserrat SemiBold" pitchFamily="34" charset="0"/>
              </a:rPr>
              <a:t>144</a:t>
            </a:r>
            <a:endParaRPr lang="en-US" sz="3400" dirty="0"/>
          </a:p>
        </p:txBody>
      </p:sp>
      <p:sp>
        <p:nvSpPr>
          <p:cNvPr id="10" name="Text 8"/>
          <p:cNvSpPr/>
          <p:nvPr/>
        </p:nvSpPr>
        <p:spPr>
          <a:xfrm>
            <a:off x="965176" y="6238141"/>
            <a:ext cx="2247844"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FFFFFF"/>
                </a:solidFill>
                <a:latin typeface="Heebo" pitchFamily="34" charset="0"/>
                <a:ea typeface="Heebo" pitchFamily="34" charset="-122"/>
                <a:cs typeface="Heebo" pitchFamily="34" charset="0"/>
              </a:rPr>
              <a:t>units across 36 SKUs</a:t>
            </a:r>
            <a:endParaRPr lang="en-US" sz="1150" dirty="0"/>
          </a:p>
        </p:txBody>
      </p:sp>
      <p:sp>
        <p:nvSpPr>
          <p:cNvPr id="11" name="Text 9"/>
          <p:cNvSpPr/>
          <p:nvPr/>
        </p:nvSpPr>
        <p:spPr>
          <a:xfrm>
            <a:off x="3517812" y="5664351"/>
            <a:ext cx="2247844" cy="414437"/>
          </a:xfrm>
          <a:prstGeom prst="rect">
            <a:avLst/>
          </a:prstGeom>
          <a:noFill/>
          <a:ln/>
        </p:spPr>
        <p:txBody>
          <a:bodyPr wrap="none" lIns="0" tIns="0" rIns="0" bIns="0" rtlCol="0" anchor="t"/>
          <a:lstStyle/>
          <a:p>
            <a:pPr marL="0" indent="0" algn="l">
              <a:lnSpc>
                <a:spcPct val="80000"/>
              </a:lnSpc>
              <a:buNone/>
            </a:pPr>
            <a:r>
              <a:rPr lang="en-US" sz="3400" kern="100" spc="-119" dirty="0">
                <a:solidFill>
                  <a:srgbClr val="FF5A7A"/>
                </a:solidFill>
                <a:latin typeface="Montserrat SemiBold" pitchFamily="34" charset="0"/>
                <a:ea typeface="Montserrat SemiBold" pitchFamily="34" charset="-122"/>
                <a:cs typeface="Montserrat SemiBold" pitchFamily="34" charset="0"/>
              </a:rPr>
              <a:t>24.6 m³</a:t>
            </a:r>
            <a:endParaRPr lang="en-US" sz="3400" dirty="0"/>
          </a:p>
        </p:txBody>
      </p:sp>
      <p:sp>
        <p:nvSpPr>
          <p:cNvPr id="12" name="Text 10"/>
          <p:cNvSpPr/>
          <p:nvPr/>
        </p:nvSpPr>
        <p:spPr>
          <a:xfrm>
            <a:off x="3517812" y="6238141"/>
            <a:ext cx="2247844"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FFFFFF"/>
                </a:solidFill>
                <a:latin typeface="Heebo" pitchFamily="34" charset="0"/>
                <a:ea typeface="Heebo" pitchFamily="34" charset="-122"/>
                <a:cs typeface="Heebo" pitchFamily="34" charset="0"/>
              </a:rPr>
              <a:t>total load volume</a:t>
            </a:r>
            <a:endParaRPr lang="en-US" sz="1150" dirty="0"/>
          </a:p>
        </p:txBody>
      </p:sp>
      <p:sp>
        <p:nvSpPr>
          <p:cNvPr id="13" name="Text 11"/>
          <p:cNvSpPr/>
          <p:nvPr/>
        </p:nvSpPr>
        <p:spPr>
          <a:xfrm>
            <a:off x="6070448" y="5664351"/>
            <a:ext cx="2247844" cy="414437"/>
          </a:xfrm>
          <a:prstGeom prst="rect">
            <a:avLst/>
          </a:prstGeom>
          <a:noFill/>
          <a:ln/>
        </p:spPr>
        <p:txBody>
          <a:bodyPr wrap="none" lIns="0" tIns="0" rIns="0" bIns="0" rtlCol="0" anchor="t"/>
          <a:lstStyle/>
          <a:p>
            <a:pPr marL="0" indent="0" algn="l">
              <a:lnSpc>
                <a:spcPct val="80000"/>
              </a:lnSpc>
              <a:buNone/>
            </a:pPr>
            <a:r>
              <a:rPr lang="en-US" sz="3400" kern="100" spc="-119" dirty="0">
                <a:solidFill>
                  <a:srgbClr val="FF5A7A"/>
                </a:solidFill>
                <a:latin typeface="Montserrat SemiBold" pitchFamily="34" charset="0"/>
                <a:ea typeface="Montserrat SemiBold" pitchFamily="34" charset="-122"/>
                <a:cs typeface="Montserrat SemiBold" pitchFamily="34" charset="0"/>
              </a:rPr>
              <a:t>2,495 kg</a:t>
            </a:r>
            <a:endParaRPr lang="en-US" sz="3400" dirty="0"/>
          </a:p>
        </p:txBody>
      </p:sp>
      <p:sp>
        <p:nvSpPr>
          <p:cNvPr id="14" name="Text 12"/>
          <p:cNvSpPr/>
          <p:nvPr/>
        </p:nvSpPr>
        <p:spPr>
          <a:xfrm>
            <a:off x="6070448" y="6238141"/>
            <a:ext cx="2247844"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FFFFFF"/>
                </a:solidFill>
                <a:latin typeface="Heebo" pitchFamily="34" charset="0"/>
                <a:ea typeface="Heebo" pitchFamily="34" charset="-122"/>
                <a:cs typeface="Heebo" pitchFamily="34" charset="0"/>
              </a:rPr>
              <a:t>total weight</a:t>
            </a:r>
            <a:endParaRPr lang="en-US" sz="1150" dirty="0"/>
          </a:p>
        </p:txBody>
      </p:sp>
      <p:sp>
        <p:nvSpPr>
          <p:cNvPr id="15" name="Text 13"/>
          <p:cNvSpPr/>
          <p:nvPr/>
        </p:nvSpPr>
        <p:spPr>
          <a:xfrm>
            <a:off x="8623084" y="5664351"/>
            <a:ext cx="2247844" cy="414437"/>
          </a:xfrm>
          <a:prstGeom prst="rect">
            <a:avLst/>
          </a:prstGeom>
          <a:noFill/>
          <a:ln/>
        </p:spPr>
        <p:txBody>
          <a:bodyPr wrap="none" lIns="0" tIns="0" rIns="0" bIns="0" rtlCol="0" anchor="t"/>
          <a:lstStyle/>
          <a:p>
            <a:pPr marL="0" indent="0" algn="l">
              <a:lnSpc>
                <a:spcPct val="80000"/>
              </a:lnSpc>
              <a:buNone/>
            </a:pPr>
            <a:r>
              <a:rPr lang="en-US" sz="3400" kern="100" spc="-119" dirty="0">
                <a:solidFill>
                  <a:srgbClr val="FF5A7A"/>
                </a:solidFill>
                <a:latin typeface="Montserrat SemiBold" pitchFamily="34" charset="0"/>
                <a:ea typeface="Montserrat SemiBold" pitchFamily="34" charset="-122"/>
                <a:cs typeface="Montserrat SemiBold" pitchFamily="34" charset="0"/>
              </a:rPr>
              <a:t>1</a:t>
            </a:r>
            <a:endParaRPr lang="en-US" sz="3400" dirty="0"/>
          </a:p>
        </p:txBody>
      </p:sp>
      <p:sp>
        <p:nvSpPr>
          <p:cNvPr id="16" name="Text 14"/>
          <p:cNvSpPr/>
          <p:nvPr/>
        </p:nvSpPr>
        <p:spPr>
          <a:xfrm>
            <a:off x="8623084" y="6238141"/>
            <a:ext cx="2247844"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FFFFFF"/>
                </a:solidFill>
                <a:latin typeface="Heebo" pitchFamily="34" charset="0"/>
                <a:ea typeface="Heebo" pitchFamily="34" charset="-122"/>
                <a:cs typeface="Heebo" pitchFamily="34" charset="0"/>
              </a:rPr>
              <a:t>20 ft container needed</a:t>
            </a:r>
            <a:endParaRPr lang="en-US" sz="1150" dirty="0"/>
          </a:p>
        </p:txBody>
      </p:sp>
      <p:pic>
        <p:nvPicPr>
          <p:cNvPr id="18" name="Picture 17">
            <a:extLst>
              <a:ext uri="{FF2B5EF4-FFF2-40B4-BE49-F238E27FC236}">
                <a16:creationId xmlns:a16="http://schemas.microsoft.com/office/drawing/2014/main" id="{90D76083-4B1E-85AB-D699-01CF27C1F83C}"/>
              </a:ext>
            </a:extLst>
          </p:cNvPr>
          <p:cNvPicPr>
            <a:picLocks noChangeAspect="1"/>
          </p:cNvPicPr>
          <p:nvPr/>
        </p:nvPicPr>
        <p:blipFill>
          <a:blip r:embed="rId3"/>
          <a:stretch>
            <a:fillRect/>
          </a:stretch>
        </p:blipFill>
        <p:spPr>
          <a:xfrm>
            <a:off x="1" y="6513194"/>
            <a:ext cx="12192000" cy="3448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1505"/>
            <a:ext cx="5257668"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0"/>
              </a:rPr>
              <a:t>THE FEASIBILITY GATE</a:t>
            </a:r>
            <a:endParaRPr lang="en-US" sz="1200" dirty="0"/>
          </a:p>
        </p:txBody>
      </p:sp>
      <p:sp>
        <p:nvSpPr>
          <p:cNvPr id="3" name="Text 1"/>
          <p:cNvSpPr/>
          <p:nvPr/>
        </p:nvSpPr>
        <p:spPr>
          <a:xfrm>
            <a:off x="609585" y="910126"/>
            <a:ext cx="5257668" cy="915392"/>
          </a:xfrm>
          <a:prstGeom prst="rect">
            <a:avLst/>
          </a:prstGeom>
          <a:noFill/>
          <a:ln/>
        </p:spPr>
        <p:txBody>
          <a:bodyPr wrap="square" lIns="0" tIns="0" rIns="0" bIns="0" rtlCol="0" anchor="t">
            <a:normAutofit/>
          </a:bodyPr>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0"/>
              </a:rPr>
              <a:t>Volume, not weight, is the binding limit</a:t>
            </a:r>
            <a:endParaRPr lang="en-US" sz="3400" dirty="0"/>
          </a:p>
        </p:txBody>
      </p:sp>
      <p:sp>
        <p:nvSpPr>
          <p:cNvPr id="4" name="Shape 2"/>
          <p:cNvSpPr/>
          <p:nvPr/>
        </p:nvSpPr>
        <p:spPr>
          <a:xfrm>
            <a:off x="609585" y="2133203"/>
            <a:ext cx="1734896" cy="31651"/>
          </a:xfrm>
          <a:prstGeom prst="roundRect">
            <a:avLst>
              <a:gd name="adj" fmla="val 49998"/>
            </a:avLst>
          </a:prstGeom>
          <a:solidFill>
            <a:srgbClr val="3D2A31"/>
          </a:solidFill>
          <a:ln/>
        </p:spPr>
      </p:sp>
      <p:sp>
        <p:nvSpPr>
          <p:cNvPr id="5" name="Text 3"/>
          <p:cNvSpPr/>
          <p:nvPr/>
        </p:nvSpPr>
        <p:spPr>
          <a:xfrm>
            <a:off x="609585" y="2415877"/>
            <a:ext cx="5257668"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The load is light and bulky: average density is about 101 kg/m³. Payload never exceeds 71%, but volume rejects two of the three vehicle options.</a:t>
            </a:r>
            <a:endParaRPr lang="en-US" sz="1700" dirty="0"/>
          </a:p>
        </p:txBody>
      </p:sp>
      <p:sp>
        <p:nvSpPr>
          <p:cNvPr id="6" name="Shape 4"/>
          <p:cNvSpPr/>
          <p:nvPr/>
        </p:nvSpPr>
        <p:spPr>
          <a:xfrm>
            <a:off x="609585" y="3446363"/>
            <a:ext cx="2476438" cy="2461915"/>
          </a:xfrm>
          <a:prstGeom prst="rect">
            <a:avLst/>
          </a:prstGeom>
          <a:solidFill>
            <a:srgbClr val="1F1016"/>
          </a:solidFill>
          <a:ln/>
        </p:spPr>
      </p:sp>
      <p:sp>
        <p:nvSpPr>
          <p:cNvPr id="7" name="Text 5"/>
          <p:cNvSpPr/>
          <p:nvPr/>
        </p:nvSpPr>
        <p:spPr>
          <a:xfrm>
            <a:off x="838179" y="3729192"/>
            <a:ext cx="2019249" cy="633909"/>
          </a:xfrm>
          <a:prstGeom prst="rect">
            <a:avLst/>
          </a:prstGeom>
          <a:noFill/>
          <a:ln/>
        </p:spPr>
        <p:txBody>
          <a:bodyPr wrap="none" lIns="0" tIns="0" rIns="0" bIns="0" rtlCol="0" anchor="t"/>
          <a:lstStyle/>
          <a:p>
            <a:pPr marL="0" indent="0" algn="l">
              <a:lnSpc>
                <a:spcPct val="80000"/>
              </a:lnSpc>
              <a:buNone/>
            </a:pPr>
            <a:r>
              <a:rPr lang="en-US" sz="5200" kern="100" spc="-182" dirty="0">
                <a:solidFill>
                  <a:srgbClr val="FF5A7A"/>
                </a:solidFill>
                <a:latin typeface="Montserrat SemiBold" pitchFamily="34" charset="0"/>
                <a:ea typeface="Montserrat SemiBold" pitchFamily="34" charset="-122"/>
                <a:cs typeface="Montserrat SemiBold" pitchFamily="34" charset="0"/>
              </a:rPr>
              <a:t>1 of 3</a:t>
            </a:r>
            <a:endParaRPr lang="en-US" sz="5200" dirty="0"/>
          </a:p>
        </p:txBody>
      </p:sp>
      <p:sp>
        <p:nvSpPr>
          <p:cNvPr id="8" name="Text 6"/>
          <p:cNvSpPr/>
          <p:nvPr/>
        </p:nvSpPr>
        <p:spPr>
          <a:xfrm>
            <a:off x="838179" y="4496197"/>
            <a:ext cx="2019249" cy="120888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vehicles can carry this load in a single trip: the 20 ft container.</a:t>
            </a:r>
            <a:endParaRPr lang="en-US" sz="1700" dirty="0"/>
          </a:p>
        </p:txBody>
      </p:sp>
      <p:sp>
        <p:nvSpPr>
          <p:cNvPr id="9" name="Shape 7"/>
          <p:cNvSpPr/>
          <p:nvPr/>
        </p:nvSpPr>
        <p:spPr>
          <a:xfrm>
            <a:off x="3390815" y="3446363"/>
            <a:ext cx="2476438" cy="2461915"/>
          </a:xfrm>
          <a:prstGeom prst="rect">
            <a:avLst/>
          </a:prstGeom>
          <a:solidFill>
            <a:srgbClr val="1F1016"/>
          </a:solidFill>
          <a:ln/>
        </p:spPr>
      </p:sp>
      <p:sp>
        <p:nvSpPr>
          <p:cNvPr id="10" name="Text 8"/>
          <p:cNvSpPr/>
          <p:nvPr/>
        </p:nvSpPr>
        <p:spPr>
          <a:xfrm>
            <a:off x="3619409" y="3729192"/>
            <a:ext cx="2019249" cy="633909"/>
          </a:xfrm>
          <a:prstGeom prst="rect">
            <a:avLst/>
          </a:prstGeom>
          <a:noFill/>
          <a:ln/>
        </p:spPr>
        <p:txBody>
          <a:bodyPr wrap="none" lIns="0" tIns="0" rIns="0" bIns="0" rtlCol="0" anchor="t"/>
          <a:lstStyle/>
          <a:p>
            <a:pPr marL="0" indent="0" algn="l">
              <a:lnSpc>
                <a:spcPct val="80000"/>
              </a:lnSpc>
              <a:buNone/>
            </a:pPr>
            <a:r>
              <a:rPr lang="en-US" sz="5200" kern="100" spc="-182" dirty="0">
                <a:solidFill>
                  <a:srgbClr val="FF5A7A"/>
                </a:solidFill>
                <a:latin typeface="Montserrat SemiBold" pitchFamily="34" charset="0"/>
                <a:ea typeface="Montserrat SemiBold" pitchFamily="34" charset="-122"/>
                <a:cs typeface="Montserrat SemiBold" pitchFamily="34" charset="0"/>
              </a:rPr>
              <a:t>105%</a:t>
            </a:r>
            <a:endParaRPr lang="en-US" sz="5200" dirty="0"/>
          </a:p>
        </p:txBody>
      </p:sp>
      <p:sp>
        <p:nvSpPr>
          <p:cNvPr id="11" name="Text 9"/>
          <p:cNvSpPr/>
          <p:nvPr/>
        </p:nvSpPr>
        <p:spPr>
          <a:xfrm>
            <a:off x="3619409" y="4496197"/>
            <a:ext cx="2019249"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of volume is needed by the 17 ft truck, before 3D rules.</a:t>
            </a:r>
            <a:endParaRPr lang="en-US" sz="1700" dirty="0"/>
          </a:p>
        </p:txBody>
      </p:sp>
      <p:pic>
        <p:nvPicPr>
          <p:cNvPr id="12" name="Image 0" descr="preencoded.png"/>
          <p:cNvPicPr>
            <a:picLocks noChangeAspect="1"/>
          </p:cNvPicPr>
          <p:nvPr/>
        </p:nvPicPr>
        <p:blipFill>
          <a:blip r:embed="rId3"/>
          <a:stretch>
            <a:fillRect/>
          </a:stretch>
        </p:blipFill>
        <p:spPr>
          <a:xfrm>
            <a:off x="6324442" y="1039217"/>
            <a:ext cx="5257668" cy="4163913"/>
          </a:xfrm>
          <a:prstGeom prst="rect">
            <a:avLst/>
          </a:prstGeom>
        </p:spPr>
      </p:pic>
      <p:sp>
        <p:nvSpPr>
          <p:cNvPr id="13" name="Text 10"/>
          <p:cNvSpPr/>
          <p:nvPr/>
        </p:nvSpPr>
        <p:spPr>
          <a:xfrm>
            <a:off x="6324442" y="5289014"/>
            <a:ext cx="5257668"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A89598"/>
                </a:solidFill>
                <a:latin typeface="Heebo" pitchFamily="34" charset="0"/>
                <a:ea typeface="Heebo" pitchFamily="34" charset="-122"/>
                <a:cs typeface="Heebo" pitchFamily="34" charset="0"/>
              </a:rPr>
              <a:t>Volume feasibility first. Payload remains below the limit.</a:t>
            </a:r>
            <a:endParaRPr lang="en-US" sz="1150" dirty="0"/>
          </a:p>
        </p:txBody>
      </p:sp>
      <p:pic>
        <p:nvPicPr>
          <p:cNvPr id="15" name="Picture 14">
            <a:extLst>
              <a:ext uri="{FF2B5EF4-FFF2-40B4-BE49-F238E27FC236}">
                <a16:creationId xmlns:a16="http://schemas.microsoft.com/office/drawing/2014/main" id="{C258173B-77A7-7A59-DD60-F30440EC620A}"/>
              </a:ext>
            </a:extLst>
          </p:cNvPr>
          <p:cNvPicPr>
            <a:picLocks noChangeAspect="1"/>
          </p:cNvPicPr>
          <p:nvPr/>
        </p:nvPicPr>
        <p:blipFill>
          <a:blip r:embed="rId4"/>
          <a:stretch>
            <a:fillRect/>
          </a:stretch>
        </p:blipFill>
        <p:spPr>
          <a:xfrm>
            <a:off x="10950408" y="6513194"/>
            <a:ext cx="1241592" cy="3448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9393" y="230505"/>
            <a:ext cx="6456598"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0"/>
              </a:rPr>
              <a:t>THE 3D REALITY CHECK</a:t>
            </a:r>
            <a:endParaRPr lang="en-US" sz="1200" dirty="0"/>
          </a:p>
        </p:txBody>
      </p:sp>
      <p:sp>
        <p:nvSpPr>
          <p:cNvPr id="3" name="Text 1"/>
          <p:cNvSpPr/>
          <p:nvPr/>
        </p:nvSpPr>
        <p:spPr>
          <a:xfrm>
            <a:off x="279393" y="529126"/>
            <a:ext cx="6177205" cy="915392"/>
          </a:xfrm>
          <a:prstGeom prst="rect">
            <a:avLst/>
          </a:prstGeom>
          <a:noFill/>
          <a:ln/>
        </p:spPr>
        <p:txBody>
          <a:bodyPr wrap="square" lIns="0" tIns="0" rIns="0" bIns="0" rtlCol="0" anchor="t">
            <a:normAutofit/>
          </a:bodyPr>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0"/>
              </a:rPr>
              <a:t>68% full on paper is not 68% usable</a:t>
            </a:r>
            <a:endParaRPr lang="en-US" sz="3400" dirty="0"/>
          </a:p>
        </p:txBody>
      </p:sp>
      <p:sp>
        <p:nvSpPr>
          <p:cNvPr id="4" name="Shape 2"/>
          <p:cNvSpPr/>
          <p:nvPr/>
        </p:nvSpPr>
        <p:spPr>
          <a:xfrm>
            <a:off x="279393" y="1752203"/>
            <a:ext cx="2038299" cy="31651"/>
          </a:xfrm>
          <a:prstGeom prst="roundRect">
            <a:avLst>
              <a:gd name="adj" fmla="val 49998"/>
            </a:avLst>
          </a:prstGeom>
          <a:solidFill>
            <a:srgbClr val="3D2A31"/>
          </a:solidFill>
          <a:ln/>
        </p:spPr>
      </p:sp>
      <p:sp>
        <p:nvSpPr>
          <p:cNvPr id="5" name="Text 3"/>
          <p:cNvSpPr/>
          <p:nvPr/>
        </p:nvSpPr>
        <p:spPr>
          <a:xfrm>
            <a:off x="279393" y="2101552"/>
            <a:ext cx="6177205"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Volume feasibility is only the first gate. Actual loading must validate orientation, stack-load limits, fragile items, base support and payload.</a:t>
            </a:r>
            <a:endParaRPr lang="en-US" sz="1700" dirty="0"/>
          </a:p>
        </p:txBody>
      </p:sp>
      <p:pic>
        <p:nvPicPr>
          <p:cNvPr id="6" name="Image 0" descr="preencoded.png"/>
          <p:cNvPicPr>
            <a:picLocks noChangeAspect="1"/>
          </p:cNvPicPr>
          <p:nvPr/>
        </p:nvPicPr>
        <p:blipFill>
          <a:blip r:embed="rId3"/>
          <a:stretch>
            <a:fillRect/>
          </a:stretch>
        </p:blipFill>
        <p:spPr>
          <a:xfrm>
            <a:off x="279393" y="3198713"/>
            <a:ext cx="5714857" cy="2349500"/>
          </a:xfrm>
          <a:prstGeom prst="rect">
            <a:avLst/>
          </a:prstGeom>
        </p:spPr>
      </p:pic>
      <p:pic>
        <p:nvPicPr>
          <p:cNvPr id="7" name="Image 1" descr="preencoded.png"/>
          <p:cNvPicPr>
            <a:picLocks noChangeAspect="1"/>
          </p:cNvPicPr>
          <p:nvPr/>
        </p:nvPicPr>
        <p:blipFill>
          <a:blip r:embed="rId4"/>
          <a:stretch>
            <a:fillRect/>
          </a:stretch>
        </p:blipFill>
        <p:spPr>
          <a:xfrm>
            <a:off x="7040684" y="0"/>
            <a:ext cx="5151011" cy="6858000"/>
          </a:xfrm>
          <a:prstGeom prst="rect">
            <a:avLst/>
          </a:prstGeom>
        </p:spPr>
      </p:pic>
      <p:sp>
        <p:nvSpPr>
          <p:cNvPr id="8" name="Shape 4"/>
          <p:cNvSpPr/>
          <p:nvPr/>
        </p:nvSpPr>
        <p:spPr>
          <a:xfrm>
            <a:off x="7040684" y="0"/>
            <a:ext cx="5151011" cy="6858000"/>
          </a:xfrm>
          <a:prstGeom prst="rect">
            <a:avLst/>
          </a:prstGeom>
          <a:solidFill>
            <a:srgbClr val="000000">
              <a:alpha val="38000"/>
            </a:srgbClr>
          </a:solidFill>
          <a:ln/>
        </p:spPr>
      </p:sp>
      <p:sp>
        <p:nvSpPr>
          <p:cNvPr id="9" name="Shape 5"/>
          <p:cNvSpPr/>
          <p:nvPr/>
        </p:nvSpPr>
        <p:spPr>
          <a:xfrm>
            <a:off x="7294678" y="2046982"/>
            <a:ext cx="4643024" cy="4557018"/>
          </a:xfrm>
          <a:prstGeom prst="roundRect">
            <a:avLst>
              <a:gd name="adj" fmla="val 4682"/>
            </a:avLst>
          </a:prstGeom>
          <a:solidFill>
            <a:srgbClr val="1F1016"/>
          </a:solidFill>
          <a:ln w="12700">
            <a:solidFill>
              <a:srgbClr val="FFFFFF">
                <a:alpha val="14000"/>
              </a:srgbClr>
            </a:solidFill>
            <a:prstDash val="solid"/>
          </a:ln>
          <a:effectLst>
            <a:outerShdw blurRad="127" dist="11430" dir="5400000" algn="bl" rotWithShape="0">
              <a:srgbClr val="FFFFFF">
                <a:alpha val="10000"/>
              </a:srgbClr>
            </a:outerShdw>
          </a:effectLst>
        </p:spPr>
      </p:sp>
      <p:sp>
        <p:nvSpPr>
          <p:cNvPr id="10" name="Text 6"/>
          <p:cNvSpPr/>
          <p:nvPr/>
        </p:nvSpPr>
        <p:spPr>
          <a:xfrm>
            <a:off x="7510572" y="2264787"/>
            <a:ext cx="4427129"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E6D9D8"/>
                </a:solidFill>
                <a:latin typeface="Heebo Medium" pitchFamily="34" charset="0"/>
                <a:ea typeface="Heebo Medium" pitchFamily="34" charset="-122"/>
                <a:cs typeface="Heebo Medium" pitchFamily="34" charset="0"/>
              </a:rPr>
              <a:t>PROTOTYPE STRESS TEST</a:t>
            </a:r>
            <a:endParaRPr lang="en-US" sz="1200" dirty="0"/>
          </a:p>
        </p:txBody>
      </p:sp>
      <p:sp>
        <p:nvSpPr>
          <p:cNvPr id="11" name="Text 7"/>
          <p:cNvSpPr/>
          <p:nvPr/>
        </p:nvSpPr>
        <p:spPr>
          <a:xfrm>
            <a:off x="7510572" y="2537373"/>
            <a:ext cx="4211234"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Rules set real capacity.</a:t>
            </a:r>
            <a:endParaRPr lang="en-US" sz="2400" dirty="0"/>
          </a:p>
        </p:txBody>
      </p:sp>
      <p:sp>
        <p:nvSpPr>
          <p:cNvPr id="12" name="Text 8"/>
          <p:cNvSpPr/>
          <p:nvPr/>
        </p:nvSpPr>
        <p:spPr>
          <a:xfrm>
            <a:off x="7510572" y="3098304"/>
            <a:ext cx="4211234" cy="1634927"/>
          </a:xfrm>
          <a:prstGeom prst="rect">
            <a:avLst/>
          </a:prstGeom>
          <a:noFill/>
          <a:ln/>
        </p:spPr>
        <p:txBody>
          <a:bodyPr wrap="square" lIns="0" tIns="0" rIns="0" bIns="0" rtlCol="0" anchor="t">
            <a:normAutofit/>
          </a:bodyPr>
          <a:lstStyle/>
          <a:p>
            <a:pPr marL="0" indent="0" algn="l">
              <a:lnSpc>
                <a:spcPct val="117000"/>
              </a:lnSpc>
              <a:spcAft>
                <a:spcPts val="950"/>
              </a:spcAft>
              <a:buNone/>
            </a:pPr>
            <a:r>
              <a:rPr lang="en-US" sz="1700" dirty="0">
                <a:solidFill>
                  <a:srgbClr val="E6D9D8"/>
                </a:solidFill>
                <a:latin typeface="Heebo Light" pitchFamily="34" charset="0"/>
                <a:ea typeface="Heebo Light" pitchFamily="34" charset="-122"/>
                <a:cs typeface="Heebo Light" pitchFamily="34" charset="0"/>
              </a:rPr>
              <a:t>Base load: 136 units fit the 20 ft container with every rule enforced.</a:t>
            </a:r>
            <a:endParaRPr lang="en-US" sz="1700" dirty="0"/>
          </a:p>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But the greedy plan used 590 of 610 cm of floor length; the 8 late units could not be added.</a:t>
            </a:r>
            <a:endParaRPr lang="en-US" sz="1700" dirty="0"/>
          </a:p>
        </p:txBody>
      </p:sp>
      <p:sp>
        <p:nvSpPr>
          <p:cNvPr id="13" name="Shape 9"/>
          <p:cNvSpPr/>
          <p:nvPr/>
        </p:nvSpPr>
        <p:spPr>
          <a:xfrm>
            <a:off x="7510572" y="4857055"/>
            <a:ext cx="2029370" cy="1531045"/>
          </a:xfrm>
          <a:prstGeom prst="rect">
            <a:avLst/>
          </a:prstGeom>
          <a:solidFill>
            <a:srgbClr val="120A0E"/>
          </a:solidFill>
          <a:ln/>
        </p:spPr>
      </p:sp>
      <p:sp>
        <p:nvSpPr>
          <p:cNvPr id="14" name="Text 10"/>
          <p:cNvSpPr/>
          <p:nvPr/>
        </p:nvSpPr>
        <p:spPr>
          <a:xfrm>
            <a:off x="7662968" y="5089084"/>
            <a:ext cx="1724577" cy="633909"/>
          </a:xfrm>
          <a:prstGeom prst="rect">
            <a:avLst/>
          </a:prstGeom>
          <a:noFill/>
          <a:ln/>
        </p:spPr>
        <p:txBody>
          <a:bodyPr wrap="none" lIns="0" tIns="0" rIns="0" bIns="0" rtlCol="0" anchor="t"/>
          <a:lstStyle/>
          <a:p>
            <a:pPr marL="0" indent="0" algn="l">
              <a:lnSpc>
                <a:spcPct val="80000"/>
              </a:lnSpc>
              <a:buNone/>
            </a:pPr>
            <a:r>
              <a:rPr lang="en-US" sz="5200" kern="100" spc="-182" dirty="0">
                <a:solidFill>
                  <a:srgbClr val="FF5A7A"/>
                </a:solidFill>
                <a:latin typeface="Montserrat SemiBold" pitchFamily="34" charset="0"/>
                <a:ea typeface="Montserrat SemiBold" pitchFamily="34" charset="-122"/>
                <a:cs typeface="Montserrat SemiBold" pitchFamily="34" charset="0"/>
              </a:rPr>
              <a:t>24</a:t>
            </a:r>
            <a:endParaRPr lang="en-US" sz="5200" dirty="0"/>
          </a:p>
        </p:txBody>
      </p:sp>
      <p:sp>
        <p:nvSpPr>
          <p:cNvPr id="15" name="Text 11"/>
          <p:cNvSpPr/>
          <p:nvPr/>
        </p:nvSpPr>
        <p:spPr>
          <a:xfrm>
            <a:off x="7662968" y="5856248"/>
            <a:ext cx="1876973"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FFFFFF"/>
                </a:solidFill>
                <a:latin typeface="Heebo" pitchFamily="34" charset="0"/>
                <a:ea typeface="Heebo" pitchFamily="34" charset="-122"/>
                <a:cs typeface="Heebo" pitchFamily="34" charset="0"/>
              </a:rPr>
              <a:t>fragile units · 3.3 m³</a:t>
            </a:r>
            <a:endParaRPr lang="en-US" sz="1150" dirty="0"/>
          </a:p>
        </p:txBody>
      </p:sp>
      <p:sp>
        <p:nvSpPr>
          <p:cNvPr id="16" name="Shape 12"/>
          <p:cNvSpPr/>
          <p:nvPr/>
        </p:nvSpPr>
        <p:spPr>
          <a:xfrm>
            <a:off x="9692338" y="4857055"/>
            <a:ext cx="2029469" cy="1531045"/>
          </a:xfrm>
          <a:prstGeom prst="rect">
            <a:avLst/>
          </a:prstGeom>
          <a:solidFill>
            <a:srgbClr val="120A0E"/>
          </a:solidFill>
          <a:ln/>
        </p:spPr>
      </p:sp>
      <p:sp>
        <p:nvSpPr>
          <p:cNvPr id="17" name="Text 13"/>
          <p:cNvSpPr/>
          <p:nvPr/>
        </p:nvSpPr>
        <p:spPr>
          <a:xfrm>
            <a:off x="9844734" y="5089084"/>
            <a:ext cx="1724676" cy="633909"/>
          </a:xfrm>
          <a:prstGeom prst="rect">
            <a:avLst/>
          </a:prstGeom>
          <a:noFill/>
          <a:ln/>
        </p:spPr>
        <p:txBody>
          <a:bodyPr wrap="none" lIns="0" tIns="0" rIns="0" bIns="0" rtlCol="0" anchor="t"/>
          <a:lstStyle/>
          <a:p>
            <a:pPr marL="0" indent="0" algn="l">
              <a:lnSpc>
                <a:spcPct val="80000"/>
              </a:lnSpc>
              <a:buNone/>
            </a:pPr>
            <a:r>
              <a:rPr lang="en-US" sz="5200" kern="100" spc="-182" dirty="0">
                <a:solidFill>
                  <a:srgbClr val="FF5A7A"/>
                </a:solidFill>
                <a:latin typeface="Montserrat SemiBold" pitchFamily="34" charset="0"/>
                <a:ea typeface="Montserrat SemiBold" pitchFamily="34" charset="-122"/>
                <a:cs typeface="Montserrat SemiBold" pitchFamily="34" charset="0"/>
              </a:rPr>
              <a:t>10</a:t>
            </a:r>
            <a:endParaRPr lang="en-US" sz="5200" dirty="0"/>
          </a:p>
        </p:txBody>
      </p:sp>
      <p:sp>
        <p:nvSpPr>
          <p:cNvPr id="18" name="Text 14"/>
          <p:cNvSpPr/>
          <p:nvPr/>
        </p:nvSpPr>
        <p:spPr>
          <a:xfrm>
            <a:off x="9844734" y="5856248"/>
            <a:ext cx="1724676" cy="379611"/>
          </a:xfrm>
          <a:prstGeom prst="rect">
            <a:avLst/>
          </a:prstGeom>
          <a:noFill/>
          <a:ln/>
        </p:spPr>
        <p:txBody>
          <a:bodyPr wrap="square" lIns="0" tIns="0" rIns="0" bIns="0" rtlCol="0" anchor="t">
            <a:normAutofit/>
          </a:bodyPr>
          <a:lstStyle/>
          <a:p>
            <a:pPr marL="0" indent="0" algn="l">
              <a:lnSpc>
                <a:spcPct val="108000"/>
              </a:lnSpc>
              <a:buNone/>
            </a:pPr>
            <a:r>
              <a:rPr lang="en-US" sz="1150" kern="100" spc="17" dirty="0">
                <a:solidFill>
                  <a:srgbClr val="FFFFFF"/>
                </a:solidFill>
                <a:latin typeface="Heebo" pitchFamily="34" charset="0"/>
                <a:ea typeface="Heebo" pitchFamily="34" charset="-122"/>
                <a:cs typeface="Heebo" pitchFamily="34" charset="0"/>
              </a:rPr>
              <a:t>cannot be stacked on · 3.5 m³</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1505"/>
            <a:ext cx="11582110"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0"/>
              </a:rPr>
              <a:t>THE NARRATIVE SPINE</a:t>
            </a:r>
            <a:endParaRPr lang="en-US" sz="1200" dirty="0"/>
          </a:p>
        </p:txBody>
      </p:sp>
      <p:sp>
        <p:nvSpPr>
          <p:cNvPr id="3" name="Text 1"/>
          <p:cNvSpPr/>
          <p:nvPr/>
        </p:nvSpPr>
        <p:spPr>
          <a:xfrm>
            <a:off x="609585" y="910126"/>
            <a:ext cx="10972526" cy="457696"/>
          </a:xfrm>
          <a:prstGeom prst="rect">
            <a:avLst/>
          </a:prstGeom>
          <a:noFill/>
          <a:ln/>
        </p:spPr>
        <p:txBody>
          <a:bodyPr wrap="none" lIns="0" tIns="0" rIns="0" bIns="0" rtlCol="0" anchor="t"/>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0"/>
              </a:rPr>
              <a:t>Our approach: Screen, Plan, Adapt</a:t>
            </a:r>
            <a:endParaRPr lang="en-US" sz="3400" dirty="0"/>
          </a:p>
        </p:txBody>
      </p:sp>
      <p:sp>
        <p:nvSpPr>
          <p:cNvPr id="4" name="Shape 2"/>
          <p:cNvSpPr/>
          <p:nvPr/>
        </p:nvSpPr>
        <p:spPr>
          <a:xfrm>
            <a:off x="609585" y="1675507"/>
            <a:ext cx="3620798" cy="31651"/>
          </a:xfrm>
          <a:prstGeom prst="roundRect">
            <a:avLst>
              <a:gd name="adj" fmla="val 49998"/>
            </a:avLst>
          </a:prstGeom>
          <a:solidFill>
            <a:srgbClr val="3D2A31"/>
          </a:solidFill>
          <a:ln/>
        </p:spPr>
      </p:sp>
      <p:sp>
        <p:nvSpPr>
          <p:cNvPr id="5" name="Shape 3"/>
          <p:cNvSpPr/>
          <p:nvPr/>
        </p:nvSpPr>
        <p:spPr>
          <a:xfrm>
            <a:off x="609585" y="2024856"/>
            <a:ext cx="3454314" cy="3226495"/>
          </a:xfrm>
          <a:prstGeom prst="rect">
            <a:avLst/>
          </a:prstGeom>
          <a:solidFill>
            <a:srgbClr val="1F1016"/>
          </a:solidFill>
          <a:ln/>
        </p:spPr>
      </p:sp>
      <p:pic>
        <p:nvPicPr>
          <p:cNvPr id="6" name="Image 0" descr="preencoded.png"/>
          <p:cNvPicPr>
            <a:picLocks noChangeAspect="1"/>
          </p:cNvPicPr>
          <p:nvPr/>
        </p:nvPicPr>
        <p:blipFill>
          <a:blip r:embed="rId3"/>
          <a:stretch>
            <a:fillRect/>
          </a:stretch>
        </p:blipFill>
        <p:spPr>
          <a:xfrm>
            <a:off x="838179" y="2101056"/>
            <a:ext cx="487350" cy="377825"/>
          </a:xfrm>
          <a:prstGeom prst="rect">
            <a:avLst/>
          </a:prstGeom>
        </p:spPr>
      </p:pic>
      <p:sp>
        <p:nvSpPr>
          <p:cNvPr id="7" name="Text 4"/>
          <p:cNvSpPr/>
          <p:nvPr/>
        </p:nvSpPr>
        <p:spPr>
          <a:xfrm>
            <a:off x="958826" y="2182019"/>
            <a:ext cx="855641" cy="215900"/>
          </a:xfrm>
          <a:prstGeom prst="rect">
            <a:avLst/>
          </a:prstGeom>
          <a:noFill/>
          <a:ln/>
        </p:spPr>
        <p:txBody>
          <a:bodyPr wrap="none" lIns="0" tIns="0" rIns="0" bIns="0" rtlCol="0" anchor="t"/>
          <a:lstStyle/>
          <a:p>
            <a:pPr marL="0" indent="0" algn="l">
              <a:lnSpc>
                <a:spcPct val="83000"/>
              </a:lnSpc>
              <a:buNone/>
            </a:pPr>
            <a:r>
              <a:rPr lang="en-US" sz="1700" dirty="0">
                <a:solidFill>
                  <a:srgbClr val="000000"/>
                </a:solidFill>
                <a:latin typeface="Heebo SemiBold" pitchFamily="34" charset="0"/>
                <a:ea typeface="Heebo SemiBold" pitchFamily="34" charset="-122"/>
                <a:cs typeface="Heebo SemiBold" pitchFamily="34" charset="0"/>
              </a:rPr>
              <a:t>01</a:t>
            </a:r>
            <a:endParaRPr lang="en-US" sz="1700" dirty="0"/>
          </a:p>
        </p:txBody>
      </p:sp>
      <p:sp>
        <p:nvSpPr>
          <p:cNvPr id="8" name="Shape 5"/>
          <p:cNvSpPr/>
          <p:nvPr/>
        </p:nvSpPr>
        <p:spPr>
          <a:xfrm>
            <a:off x="838179" y="2565797"/>
            <a:ext cx="2997125" cy="19050"/>
          </a:xfrm>
          <a:prstGeom prst="rect">
            <a:avLst/>
          </a:prstGeom>
          <a:solidFill>
            <a:srgbClr val="FF5A7A"/>
          </a:solidFill>
          <a:ln/>
        </p:spPr>
      </p:sp>
      <p:sp>
        <p:nvSpPr>
          <p:cNvPr id="9" name="Text 6"/>
          <p:cNvSpPr/>
          <p:nvPr/>
        </p:nvSpPr>
        <p:spPr>
          <a:xfrm>
            <a:off x="838179" y="2677073"/>
            <a:ext cx="2997125"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Screen</a:t>
            </a:r>
            <a:endParaRPr lang="en-US" sz="2400" dirty="0"/>
          </a:p>
        </p:txBody>
      </p:sp>
      <p:sp>
        <p:nvSpPr>
          <p:cNvPr id="10" name="Text 7"/>
          <p:cNvSpPr/>
          <p:nvPr/>
        </p:nvSpPr>
        <p:spPr>
          <a:xfrm>
            <a:off x="838179" y="3238004"/>
            <a:ext cx="3225719"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Pick the right vehicle.</a:t>
            </a:r>
            <a:endParaRPr lang="en-US" sz="1700" dirty="0"/>
          </a:p>
        </p:txBody>
      </p:sp>
      <p:sp>
        <p:nvSpPr>
          <p:cNvPr id="11" name="Text 8"/>
          <p:cNvSpPr/>
          <p:nvPr/>
        </p:nvSpPr>
        <p:spPr>
          <a:xfrm>
            <a:off x="838179" y="3664049"/>
            <a:ext cx="2997125" cy="120888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Check volume, payload and door size per vehicle; keep a planning buffer, not 100% fill; this move: 20 ft container.</a:t>
            </a:r>
            <a:endParaRPr lang="en-US" sz="1700" dirty="0"/>
          </a:p>
        </p:txBody>
      </p:sp>
      <p:sp>
        <p:nvSpPr>
          <p:cNvPr id="12" name="Shape 9"/>
          <p:cNvSpPr/>
          <p:nvPr/>
        </p:nvSpPr>
        <p:spPr>
          <a:xfrm>
            <a:off x="4368691" y="2024856"/>
            <a:ext cx="3454314" cy="3226495"/>
          </a:xfrm>
          <a:prstGeom prst="rect">
            <a:avLst/>
          </a:prstGeom>
          <a:solidFill>
            <a:srgbClr val="1F1016"/>
          </a:solidFill>
          <a:ln/>
        </p:spPr>
      </p:sp>
      <p:pic>
        <p:nvPicPr>
          <p:cNvPr id="13" name="Image 1" descr="preencoded.png"/>
          <p:cNvPicPr>
            <a:picLocks noChangeAspect="1"/>
          </p:cNvPicPr>
          <p:nvPr/>
        </p:nvPicPr>
        <p:blipFill>
          <a:blip r:embed="rId3"/>
          <a:stretch>
            <a:fillRect/>
          </a:stretch>
        </p:blipFill>
        <p:spPr>
          <a:xfrm>
            <a:off x="4597285" y="2101056"/>
            <a:ext cx="487350" cy="377825"/>
          </a:xfrm>
          <a:prstGeom prst="rect">
            <a:avLst/>
          </a:prstGeom>
        </p:spPr>
      </p:pic>
      <p:sp>
        <p:nvSpPr>
          <p:cNvPr id="14" name="Text 10"/>
          <p:cNvSpPr/>
          <p:nvPr/>
        </p:nvSpPr>
        <p:spPr>
          <a:xfrm>
            <a:off x="4717932" y="2182019"/>
            <a:ext cx="855641" cy="215900"/>
          </a:xfrm>
          <a:prstGeom prst="rect">
            <a:avLst/>
          </a:prstGeom>
          <a:noFill/>
          <a:ln/>
        </p:spPr>
        <p:txBody>
          <a:bodyPr wrap="none" lIns="0" tIns="0" rIns="0" bIns="0" rtlCol="0" anchor="t"/>
          <a:lstStyle/>
          <a:p>
            <a:pPr marL="0" indent="0" algn="l">
              <a:lnSpc>
                <a:spcPct val="83000"/>
              </a:lnSpc>
              <a:buNone/>
            </a:pPr>
            <a:r>
              <a:rPr lang="en-US" sz="1700" dirty="0">
                <a:solidFill>
                  <a:srgbClr val="000000"/>
                </a:solidFill>
                <a:latin typeface="Heebo SemiBold" pitchFamily="34" charset="0"/>
                <a:ea typeface="Heebo SemiBold" pitchFamily="34" charset="-122"/>
                <a:cs typeface="Heebo SemiBold" pitchFamily="34" charset="0"/>
              </a:rPr>
              <a:t>02</a:t>
            </a:r>
            <a:endParaRPr lang="en-US" sz="1700" dirty="0"/>
          </a:p>
        </p:txBody>
      </p:sp>
      <p:sp>
        <p:nvSpPr>
          <p:cNvPr id="15" name="Shape 11"/>
          <p:cNvSpPr/>
          <p:nvPr/>
        </p:nvSpPr>
        <p:spPr>
          <a:xfrm>
            <a:off x="4597285" y="2565797"/>
            <a:ext cx="2997125" cy="19050"/>
          </a:xfrm>
          <a:prstGeom prst="rect">
            <a:avLst/>
          </a:prstGeom>
          <a:solidFill>
            <a:srgbClr val="FF5A7A"/>
          </a:solidFill>
          <a:ln/>
        </p:spPr>
      </p:sp>
      <p:sp>
        <p:nvSpPr>
          <p:cNvPr id="16" name="Text 12"/>
          <p:cNvSpPr/>
          <p:nvPr/>
        </p:nvSpPr>
        <p:spPr>
          <a:xfrm>
            <a:off x="4597285" y="2677073"/>
            <a:ext cx="2997125"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Plan</a:t>
            </a:r>
            <a:endParaRPr lang="en-US" sz="2400" dirty="0"/>
          </a:p>
        </p:txBody>
      </p:sp>
      <p:sp>
        <p:nvSpPr>
          <p:cNvPr id="17" name="Text 13"/>
          <p:cNvSpPr/>
          <p:nvPr/>
        </p:nvSpPr>
        <p:spPr>
          <a:xfrm>
            <a:off x="4597285" y="3238004"/>
            <a:ext cx="3225719"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Place every item by rules.</a:t>
            </a:r>
            <a:endParaRPr lang="en-US" sz="1700" dirty="0"/>
          </a:p>
        </p:txBody>
      </p:sp>
      <p:sp>
        <p:nvSpPr>
          <p:cNvPr id="18" name="Text 14"/>
          <p:cNvSpPr/>
          <p:nvPr/>
        </p:nvSpPr>
        <p:spPr>
          <a:xfrm>
            <a:off x="4597285" y="3664049"/>
            <a:ext cx="2997125" cy="1511102"/>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Orientation, stack-load budget, fragile on top; heavy and rigid low, base support of 80%+; weight balanced left-right and front-back.</a:t>
            </a:r>
            <a:endParaRPr lang="en-US" sz="1700" dirty="0"/>
          </a:p>
        </p:txBody>
      </p:sp>
      <p:sp>
        <p:nvSpPr>
          <p:cNvPr id="19" name="Shape 15"/>
          <p:cNvSpPr/>
          <p:nvPr/>
        </p:nvSpPr>
        <p:spPr>
          <a:xfrm>
            <a:off x="8127797" y="2024856"/>
            <a:ext cx="3454314" cy="3226495"/>
          </a:xfrm>
          <a:prstGeom prst="rect">
            <a:avLst/>
          </a:prstGeom>
          <a:solidFill>
            <a:srgbClr val="1F1016"/>
          </a:solidFill>
          <a:ln/>
        </p:spPr>
      </p:sp>
      <p:pic>
        <p:nvPicPr>
          <p:cNvPr id="20" name="Image 2" descr="preencoded.png"/>
          <p:cNvPicPr>
            <a:picLocks noChangeAspect="1"/>
          </p:cNvPicPr>
          <p:nvPr/>
        </p:nvPicPr>
        <p:blipFill>
          <a:blip r:embed="rId3"/>
          <a:stretch>
            <a:fillRect/>
          </a:stretch>
        </p:blipFill>
        <p:spPr>
          <a:xfrm>
            <a:off x="8356391" y="2101056"/>
            <a:ext cx="487350" cy="377825"/>
          </a:xfrm>
          <a:prstGeom prst="rect">
            <a:avLst/>
          </a:prstGeom>
        </p:spPr>
      </p:pic>
      <p:sp>
        <p:nvSpPr>
          <p:cNvPr id="21" name="Text 16"/>
          <p:cNvSpPr/>
          <p:nvPr/>
        </p:nvSpPr>
        <p:spPr>
          <a:xfrm>
            <a:off x="8477038" y="2182019"/>
            <a:ext cx="855641" cy="215900"/>
          </a:xfrm>
          <a:prstGeom prst="rect">
            <a:avLst/>
          </a:prstGeom>
          <a:noFill/>
          <a:ln/>
        </p:spPr>
        <p:txBody>
          <a:bodyPr wrap="none" lIns="0" tIns="0" rIns="0" bIns="0" rtlCol="0" anchor="t"/>
          <a:lstStyle/>
          <a:p>
            <a:pPr marL="0" indent="0" algn="l">
              <a:lnSpc>
                <a:spcPct val="83000"/>
              </a:lnSpc>
              <a:buNone/>
            </a:pPr>
            <a:r>
              <a:rPr lang="en-US" sz="1700" dirty="0">
                <a:solidFill>
                  <a:srgbClr val="000000"/>
                </a:solidFill>
                <a:latin typeface="Heebo SemiBold" pitchFamily="34" charset="0"/>
                <a:ea typeface="Heebo SemiBold" pitchFamily="34" charset="-122"/>
                <a:cs typeface="Heebo SemiBold" pitchFamily="34" charset="0"/>
              </a:rPr>
              <a:t>03</a:t>
            </a:r>
            <a:endParaRPr lang="en-US" sz="1700" dirty="0"/>
          </a:p>
        </p:txBody>
      </p:sp>
      <p:sp>
        <p:nvSpPr>
          <p:cNvPr id="22" name="Shape 17"/>
          <p:cNvSpPr/>
          <p:nvPr/>
        </p:nvSpPr>
        <p:spPr>
          <a:xfrm>
            <a:off x="8356391" y="2565797"/>
            <a:ext cx="2997125" cy="19050"/>
          </a:xfrm>
          <a:prstGeom prst="rect">
            <a:avLst/>
          </a:prstGeom>
          <a:solidFill>
            <a:srgbClr val="FF5A7A"/>
          </a:solidFill>
          <a:ln/>
        </p:spPr>
      </p:sp>
      <p:sp>
        <p:nvSpPr>
          <p:cNvPr id="23" name="Text 18"/>
          <p:cNvSpPr/>
          <p:nvPr/>
        </p:nvSpPr>
        <p:spPr>
          <a:xfrm>
            <a:off x="8356391" y="2677073"/>
            <a:ext cx="2997125"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Adapt</a:t>
            </a:r>
            <a:endParaRPr lang="en-US" sz="2400" dirty="0"/>
          </a:p>
        </p:txBody>
      </p:sp>
      <p:sp>
        <p:nvSpPr>
          <p:cNvPr id="24" name="Text 19"/>
          <p:cNvSpPr/>
          <p:nvPr/>
        </p:nvSpPr>
        <p:spPr>
          <a:xfrm>
            <a:off x="8356391" y="3238004"/>
            <a:ext cx="3225719"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Re-plan when things change.</a:t>
            </a:r>
            <a:endParaRPr lang="en-US" sz="1700" dirty="0"/>
          </a:p>
        </p:txBody>
      </p:sp>
      <p:sp>
        <p:nvSpPr>
          <p:cNvPr id="25" name="Text 20"/>
          <p:cNvSpPr/>
          <p:nvPr/>
        </p:nvSpPr>
        <p:spPr>
          <a:xfrm>
            <a:off x="8356391" y="3664049"/>
            <a:ext cx="2997125" cy="120888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Reserve a last-loaded slot at the door; re-run in seconds for rush orders; update the item master on product changes.</a:t>
            </a:r>
            <a:endParaRPr lang="en-US" sz="1700" dirty="0"/>
          </a:p>
        </p:txBody>
      </p:sp>
      <p:sp>
        <p:nvSpPr>
          <p:cNvPr id="26" name="Shape 21"/>
          <p:cNvSpPr/>
          <p:nvPr/>
        </p:nvSpPr>
        <p:spPr>
          <a:xfrm>
            <a:off x="609585" y="5441851"/>
            <a:ext cx="10972526" cy="841970"/>
          </a:xfrm>
          <a:prstGeom prst="roundRect">
            <a:avLst>
              <a:gd name="adj" fmla="val 1357"/>
            </a:avLst>
          </a:prstGeom>
          <a:solidFill>
            <a:srgbClr val="801F00"/>
          </a:solidFill>
          <a:ln/>
        </p:spPr>
      </p:sp>
      <p:sp>
        <p:nvSpPr>
          <p:cNvPr id="27" name="Text 22"/>
          <p:cNvSpPr/>
          <p:nvPr/>
        </p:nvSpPr>
        <p:spPr>
          <a:xfrm>
            <a:off x="825479" y="5711726"/>
            <a:ext cx="11150321" cy="302220"/>
          </a:xfrm>
          <a:prstGeom prst="rect">
            <a:avLst/>
          </a:prstGeom>
          <a:noFill/>
          <a:ln/>
        </p:spPr>
        <p:txBody>
          <a:bodyPr wrap="none" lIns="0" tIns="0" rIns="0" bIns="0" rtlCol="0" anchor="t"/>
          <a:lstStyle/>
          <a:p>
            <a:pPr marL="0" indent="0" algn="l">
              <a:lnSpc>
                <a:spcPct val="117000"/>
              </a:lnSpc>
              <a:buNone/>
            </a:pPr>
            <a:r>
              <a:rPr lang="en-US" sz="1700" b="1" dirty="0">
                <a:solidFill>
                  <a:srgbClr val="FFFFFF"/>
                </a:solidFill>
                <a:latin typeface="Heebo Bold" pitchFamily="34" charset="0"/>
                <a:ea typeface="Heebo Bold" pitchFamily="34" charset="-122"/>
                <a:cs typeface="Heebo Bold" pitchFamily="34" charset="0"/>
              </a:rPr>
              <a:t>Output for the crew:</a:t>
            </a:r>
            <a:r>
              <a:rPr lang="en-US" sz="1700" dirty="0">
                <a:solidFill>
                  <a:srgbClr val="FFFFFF"/>
                </a:solidFill>
                <a:latin typeface="Heebo Light" pitchFamily="34" charset="0"/>
                <a:ea typeface="Heebo Light" pitchFamily="34" charset="-122"/>
                <a:cs typeface="Heebo Light" pitchFamily="34" charset="0"/>
              </a:rPr>
              <a:t> a numbered loading sequence and zone map, not a spreadsheet.</a:t>
            </a:r>
            <a:endParaRPr lang="en-US" sz="1700" dirty="0"/>
          </a:p>
        </p:txBody>
      </p:sp>
      <p:pic>
        <p:nvPicPr>
          <p:cNvPr id="29" name="Picture 28">
            <a:extLst>
              <a:ext uri="{FF2B5EF4-FFF2-40B4-BE49-F238E27FC236}">
                <a16:creationId xmlns:a16="http://schemas.microsoft.com/office/drawing/2014/main" id="{D9DAFB33-3B34-54C0-6304-6999D1E931BD}"/>
              </a:ext>
            </a:extLst>
          </p:cNvPr>
          <p:cNvPicPr>
            <a:picLocks noChangeAspect="1"/>
          </p:cNvPicPr>
          <p:nvPr/>
        </p:nvPicPr>
        <p:blipFill>
          <a:blip r:embed="rId4"/>
          <a:stretch>
            <a:fillRect/>
          </a:stretch>
        </p:blipFill>
        <p:spPr>
          <a:xfrm>
            <a:off x="10950408" y="6513194"/>
            <a:ext cx="1241592" cy="3448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4693822" cy="6858000"/>
          </a:xfrm>
          <a:prstGeom prst="rect">
            <a:avLst/>
          </a:prstGeom>
          <a:solidFill>
            <a:srgbClr val="FF8761"/>
          </a:solidFill>
          <a:ln/>
        </p:spPr>
      </p:sp>
      <p:sp>
        <p:nvSpPr>
          <p:cNvPr id="3" name="Text 1"/>
          <p:cNvSpPr/>
          <p:nvPr/>
        </p:nvSpPr>
        <p:spPr>
          <a:xfrm>
            <a:off x="279393" y="306705"/>
            <a:ext cx="4414429"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000000"/>
                </a:solidFill>
                <a:latin typeface="Heebo Medium" pitchFamily="34" charset="0"/>
                <a:ea typeface="Heebo Medium" pitchFamily="34" charset="-122"/>
                <a:cs typeface="Heebo Medium" pitchFamily="34" charset="0"/>
              </a:rPr>
              <a:t>THE LATE-ITEM SIGNAL</a:t>
            </a:r>
            <a:endParaRPr lang="en-US" sz="1200" dirty="0"/>
          </a:p>
        </p:txBody>
      </p:sp>
      <p:sp>
        <p:nvSpPr>
          <p:cNvPr id="4" name="Text 2"/>
          <p:cNvSpPr/>
          <p:nvPr/>
        </p:nvSpPr>
        <p:spPr>
          <a:xfrm>
            <a:off x="279393" y="699687"/>
            <a:ext cx="4135036" cy="999728"/>
          </a:xfrm>
          <a:prstGeom prst="rect">
            <a:avLst/>
          </a:prstGeom>
          <a:noFill/>
          <a:ln/>
        </p:spPr>
        <p:txBody>
          <a:bodyPr wrap="none" lIns="0" tIns="0" rIns="0" bIns="0" rtlCol="0" anchor="t"/>
          <a:lstStyle/>
          <a:p>
            <a:pPr marL="0" indent="0" algn="l">
              <a:lnSpc>
                <a:spcPct val="80000"/>
              </a:lnSpc>
              <a:buNone/>
            </a:pPr>
            <a:r>
              <a:rPr lang="en-US" sz="8200" kern="100" spc="-287" dirty="0">
                <a:solidFill>
                  <a:srgbClr val="000000"/>
                </a:solidFill>
                <a:latin typeface="Montserrat SemiBold" pitchFamily="34" charset="0"/>
                <a:ea typeface="Montserrat SemiBold" pitchFamily="34" charset="-122"/>
                <a:cs typeface="Montserrat SemiBold" pitchFamily="34" charset="0"/>
              </a:rPr>
              <a:t>4.7%</a:t>
            </a:r>
            <a:endParaRPr lang="en-US" sz="8200" dirty="0"/>
          </a:p>
        </p:txBody>
      </p:sp>
      <p:sp>
        <p:nvSpPr>
          <p:cNvPr id="5" name="Text 3"/>
          <p:cNvSpPr/>
          <p:nvPr/>
        </p:nvSpPr>
        <p:spPr>
          <a:xfrm>
            <a:off x="279393" y="1769519"/>
            <a:ext cx="4135036"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000000"/>
                </a:solidFill>
                <a:latin typeface="Montserrat Medium" pitchFamily="34" charset="0"/>
                <a:ea typeface="Montserrat Medium" pitchFamily="34" charset="-122"/>
                <a:cs typeface="Montserrat Medium" pitchFamily="34" charset="0"/>
              </a:rPr>
              <a:t>of volume arrives late</a:t>
            </a:r>
            <a:endParaRPr lang="en-US" sz="2400" dirty="0"/>
          </a:p>
        </p:txBody>
      </p:sp>
      <p:sp>
        <p:nvSpPr>
          <p:cNvPr id="6" name="Text 4"/>
          <p:cNvSpPr/>
          <p:nvPr/>
        </p:nvSpPr>
        <p:spPr>
          <a:xfrm>
            <a:off x="279393" y="2330450"/>
            <a:ext cx="4414429" cy="302220"/>
          </a:xfrm>
          <a:prstGeom prst="rect">
            <a:avLst/>
          </a:prstGeom>
          <a:noFill/>
          <a:ln/>
        </p:spPr>
        <p:txBody>
          <a:bodyPr wrap="none" lIns="0" tIns="0" rIns="0" bIns="0" rtlCol="0" anchor="t"/>
          <a:lstStyle/>
          <a:p>
            <a:pPr marL="0" indent="0" algn="l">
              <a:lnSpc>
                <a:spcPct val="117000"/>
              </a:lnSpc>
              <a:buNone/>
            </a:pPr>
            <a:r>
              <a:rPr lang="en-US" sz="1700" dirty="0">
                <a:solidFill>
                  <a:srgbClr val="000000"/>
                </a:solidFill>
                <a:latin typeface="Heebo Light" pitchFamily="34" charset="0"/>
                <a:ea typeface="Heebo Light" pitchFamily="34" charset="-122"/>
                <a:cs typeface="Heebo Light" pitchFamily="34" charset="0"/>
              </a:rPr>
              <a:t>8 units · 180 kg</a:t>
            </a:r>
            <a:endParaRPr lang="en-US" sz="1700" dirty="0"/>
          </a:p>
        </p:txBody>
      </p:sp>
      <p:sp>
        <p:nvSpPr>
          <p:cNvPr id="7" name="Shape 5"/>
          <p:cNvSpPr/>
          <p:nvPr/>
        </p:nvSpPr>
        <p:spPr>
          <a:xfrm>
            <a:off x="279393" y="2875558"/>
            <a:ext cx="4134937" cy="31651"/>
          </a:xfrm>
          <a:prstGeom prst="roundRect">
            <a:avLst>
              <a:gd name="adj" fmla="val 49998"/>
            </a:avLst>
          </a:prstGeom>
          <a:solidFill>
            <a:srgbClr val="3D2A31"/>
          </a:solidFill>
          <a:ln/>
        </p:spPr>
      </p:sp>
      <p:sp>
        <p:nvSpPr>
          <p:cNvPr id="8" name="Text 6"/>
          <p:cNvSpPr/>
          <p:nvPr/>
        </p:nvSpPr>
        <p:spPr>
          <a:xfrm>
            <a:off x="279393" y="3150195"/>
            <a:ext cx="4135036"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000000"/>
                </a:solidFill>
                <a:latin typeface="Heebo Light" pitchFamily="34" charset="0"/>
                <a:ea typeface="Heebo Light" pitchFamily="34" charset="-122"/>
                <a:cs typeface="Heebo Light" pitchFamily="34" charset="0"/>
              </a:rPr>
              <a:t>Small share, awkward items: a 90 kg flat treadmill and a 160 cm fragile lamp.</a:t>
            </a:r>
            <a:endParaRPr lang="en-US" sz="1700" dirty="0"/>
          </a:p>
        </p:txBody>
      </p:sp>
      <p:sp>
        <p:nvSpPr>
          <p:cNvPr id="9" name="Text 7"/>
          <p:cNvSpPr/>
          <p:nvPr/>
        </p:nvSpPr>
        <p:spPr>
          <a:xfrm>
            <a:off x="5760497" y="611505"/>
            <a:ext cx="6431198"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0"/>
              </a:rPr>
              <a:t>BUILT FOR RUSH ORDERS, PRODUCT CHANGES AND PEAKS</a:t>
            </a:r>
            <a:endParaRPr lang="en-US" sz="1200" dirty="0"/>
          </a:p>
        </p:txBody>
      </p:sp>
      <p:sp>
        <p:nvSpPr>
          <p:cNvPr id="10" name="Shape 8"/>
          <p:cNvSpPr/>
          <p:nvPr/>
        </p:nvSpPr>
        <p:spPr>
          <a:xfrm>
            <a:off x="5760497" y="982960"/>
            <a:ext cx="2834609" cy="3048595"/>
          </a:xfrm>
          <a:prstGeom prst="rect">
            <a:avLst/>
          </a:prstGeom>
          <a:solidFill>
            <a:srgbClr val="1F1016"/>
          </a:solidFill>
          <a:ln/>
        </p:spPr>
      </p:sp>
      <p:sp>
        <p:nvSpPr>
          <p:cNvPr id="11" name="Text 9"/>
          <p:cNvSpPr/>
          <p:nvPr/>
        </p:nvSpPr>
        <p:spPr>
          <a:xfrm>
            <a:off x="5938292" y="1115866"/>
            <a:ext cx="2479018"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Rush orders</a:t>
            </a:r>
            <a:endParaRPr lang="en-US" sz="2400" dirty="0"/>
          </a:p>
        </p:txBody>
      </p:sp>
      <p:sp>
        <p:nvSpPr>
          <p:cNvPr id="12" name="Text 10"/>
          <p:cNvSpPr/>
          <p:nvPr/>
        </p:nvSpPr>
        <p:spPr>
          <a:xfrm>
            <a:off x="5938292" y="1676797"/>
            <a:ext cx="2479018" cy="1511102"/>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Hold back a door-side reserve sized to the usual late share. A new item gets a yes or no in seconds, against its rules.</a:t>
            </a:r>
            <a:endParaRPr lang="en-US" sz="1700" dirty="0"/>
          </a:p>
        </p:txBody>
      </p:sp>
      <p:sp>
        <p:nvSpPr>
          <p:cNvPr id="13" name="Shape 11"/>
          <p:cNvSpPr/>
          <p:nvPr/>
        </p:nvSpPr>
        <p:spPr>
          <a:xfrm>
            <a:off x="8747501" y="982960"/>
            <a:ext cx="2834609" cy="3048595"/>
          </a:xfrm>
          <a:prstGeom prst="rect">
            <a:avLst/>
          </a:prstGeom>
          <a:solidFill>
            <a:srgbClr val="1F1016"/>
          </a:solidFill>
          <a:ln/>
        </p:spPr>
      </p:sp>
      <p:sp>
        <p:nvSpPr>
          <p:cNvPr id="14" name="Text 12"/>
          <p:cNvSpPr/>
          <p:nvPr/>
        </p:nvSpPr>
        <p:spPr>
          <a:xfrm>
            <a:off x="8925297" y="1115866"/>
            <a:ext cx="2479018" cy="828873"/>
          </a:xfrm>
          <a:prstGeom prst="rect">
            <a:avLst/>
          </a:prstGeom>
          <a:noFill/>
          <a:ln/>
        </p:spPr>
        <p:txBody>
          <a:bodyPr wrap="square" lIns="0" tIns="0" rIns="0" bIns="0" rtlCol="0" anchor="t">
            <a:normAutofit/>
          </a:bodyPr>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Product changes</a:t>
            </a:r>
            <a:endParaRPr lang="en-US" sz="2400" dirty="0"/>
          </a:p>
        </p:txBody>
      </p:sp>
      <p:sp>
        <p:nvSpPr>
          <p:cNvPr id="15" name="Text 13"/>
          <p:cNvSpPr/>
          <p:nvPr/>
        </p:nvSpPr>
        <p:spPr>
          <a:xfrm>
            <a:off x="8925297" y="2091234"/>
            <a:ext cx="2479018" cy="1813322"/>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One item master, with size, weight and rules, feeds the planner. Cartons are 76% of units: fewer, modular sizes pack better.</a:t>
            </a:r>
            <a:endParaRPr lang="en-US" sz="1700" dirty="0"/>
          </a:p>
        </p:txBody>
      </p:sp>
      <p:sp>
        <p:nvSpPr>
          <p:cNvPr id="16" name="Shape 14"/>
          <p:cNvSpPr/>
          <p:nvPr/>
        </p:nvSpPr>
        <p:spPr>
          <a:xfrm>
            <a:off x="5760497" y="4183955"/>
            <a:ext cx="5821614" cy="1425277"/>
          </a:xfrm>
          <a:prstGeom prst="rect">
            <a:avLst/>
          </a:prstGeom>
          <a:solidFill>
            <a:srgbClr val="1F1016"/>
          </a:solidFill>
          <a:ln/>
        </p:spPr>
      </p:sp>
      <p:sp>
        <p:nvSpPr>
          <p:cNvPr id="17" name="Text 15"/>
          <p:cNvSpPr/>
          <p:nvPr/>
        </p:nvSpPr>
        <p:spPr>
          <a:xfrm>
            <a:off x="5938292" y="4316861"/>
            <a:ext cx="5466023"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Peak seasons</a:t>
            </a:r>
            <a:endParaRPr lang="en-US" sz="2400" dirty="0"/>
          </a:p>
        </p:txBody>
      </p:sp>
      <p:sp>
        <p:nvSpPr>
          <p:cNvPr id="18" name="Text 16"/>
          <p:cNvSpPr/>
          <p:nvPr/>
        </p:nvSpPr>
        <p:spPr>
          <a:xfrm>
            <a:off x="5938292" y="4877792"/>
            <a:ext cx="5466023"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Plan all loads together and consolidate, so a 1% gain per load multiplies across hundreds of trips.</a:t>
            </a:r>
            <a:endParaRPr lang="en-US" sz="1700" dirty="0"/>
          </a:p>
        </p:txBody>
      </p:sp>
      <p:pic>
        <p:nvPicPr>
          <p:cNvPr id="20" name="Picture 19">
            <a:extLst>
              <a:ext uri="{FF2B5EF4-FFF2-40B4-BE49-F238E27FC236}">
                <a16:creationId xmlns:a16="http://schemas.microsoft.com/office/drawing/2014/main" id="{6EC97C2C-59FD-9193-F332-C7553A1BEFDA}"/>
              </a:ext>
            </a:extLst>
          </p:cNvPr>
          <p:cNvPicPr>
            <a:picLocks noChangeAspect="1"/>
          </p:cNvPicPr>
          <p:nvPr/>
        </p:nvPicPr>
        <p:blipFill>
          <a:blip r:embed="rId3"/>
          <a:stretch>
            <a:fillRect/>
          </a:stretch>
        </p:blipFill>
        <p:spPr>
          <a:xfrm>
            <a:off x="10950408" y="6513194"/>
            <a:ext cx="1241592" cy="3448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815759" cy="6858000"/>
          </a:xfrm>
          <a:prstGeom prst="rect">
            <a:avLst/>
          </a:prstGeom>
        </p:spPr>
      </p:pic>
      <p:sp>
        <p:nvSpPr>
          <p:cNvPr id="3" name="Shape 0"/>
          <p:cNvSpPr/>
          <p:nvPr/>
        </p:nvSpPr>
        <p:spPr>
          <a:xfrm>
            <a:off x="0" y="0"/>
            <a:ext cx="4815759" cy="6858000"/>
          </a:xfrm>
          <a:prstGeom prst="rect">
            <a:avLst/>
          </a:prstGeom>
          <a:solidFill>
            <a:srgbClr val="000000">
              <a:alpha val="30000"/>
            </a:srgbClr>
          </a:solidFill>
          <a:ln/>
        </p:spPr>
      </p:sp>
      <p:sp>
        <p:nvSpPr>
          <p:cNvPr id="4" name="Text 1"/>
          <p:cNvSpPr/>
          <p:nvPr/>
        </p:nvSpPr>
        <p:spPr>
          <a:xfrm>
            <a:off x="5374446" y="344805"/>
            <a:ext cx="6817249"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0"/>
              </a:rPr>
              <a:t>THE DECISION</a:t>
            </a:r>
            <a:endParaRPr lang="en-US" sz="1200" dirty="0"/>
          </a:p>
        </p:txBody>
      </p:sp>
      <p:sp>
        <p:nvSpPr>
          <p:cNvPr id="5" name="Text 2"/>
          <p:cNvSpPr/>
          <p:nvPr/>
        </p:nvSpPr>
        <p:spPr>
          <a:xfrm>
            <a:off x="5374446" y="617391"/>
            <a:ext cx="6410859" cy="414437"/>
          </a:xfrm>
          <a:prstGeom prst="rect">
            <a:avLst/>
          </a:prstGeom>
          <a:noFill/>
          <a:ln/>
        </p:spPr>
        <p:txBody>
          <a:bodyPr wrap="none" lIns="0" tIns="0" rIns="0" bIns="0" rtlCol="0" anchor="t"/>
          <a:lstStyle/>
          <a:p>
            <a:pPr marL="0" indent="0" algn="l">
              <a:lnSpc>
                <a:spcPct val="113000"/>
              </a:lnSpc>
              <a:buNone/>
            </a:pPr>
            <a:r>
              <a:rPr lang="en-US" sz="2400" kern="100" spc="-60" dirty="0">
                <a:solidFill>
                  <a:srgbClr val="E6D9D8"/>
                </a:solidFill>
                <a:latin typeface="Montserrat Medium" pitchFamily="34" charset="0"/>
                <a:ea typeface="Montserrat Medium" pitchFamily="34" charset="-122"/>
                <a:cs typeface="Montserrat Medium" pitchFamily="34" charset="0"/>
              </a:rPr>
              <a:t>Impact: one vehicle, then a pilot to prove it</a:t>
            </a:r>
            <a:endParaRPr lang="en-US" sz="2400" dirty="0"/>
          </a:p>
        </p:txBody>
      </p:sp>
      <p:sp>
        <p:nvSpPr>
          <p:cNvPr id="6" name="Shape 3"/>
          <p:cNvSpPr/>
          <p:nvPr/>
        </p:nvSpPr>
        <p:spPr>
          <a:xfrm>
            <a:off x="5374446" y="1305223"/>
            <a:ext cx="2115390" cy="31651"/>
          </a:xfrm>
          <a:prstGeom prst="roundRect">
            <a:avLst>
              <a:gd name="adj" fmla="val 49998"/>
            </a:avLst>
          </a:prstGeom>
          <a:solidFill>
            <a:srgbClr val="3D2A31"/>
          </a:solidFill>
          <a:ln/>
        </p:spPr>
      </p:sp>
      <p:sp>
        <p:nvSpPr>
          <p:cNvPr id="7" name="Text 4"/>
          <p:cNvSpPr/>
          <p:nvPr/>
        </p:nvSpPr>
        <p:spPr>
          <a:xfrm>
            <a:off x="5374446" y="1754775"/>
            <a:ext cx="3129182" cy="780256"/>
          </a:xfrm>
          <a:prstGeom prst="rect">
            <a:avLst/>
          </a:prstGeom>
          <a:noFill/>
          <a:ln/>
        </p:spPr>
        <p:txBody>
          <a:bodyPr wrap="none" lIns="0" tIns="0" rIns="0" bIns="0" rtlCol="0" anchor="t"/>
          <a:lstStyle/>
          <a:p>
            <a:pPr marL="0" indent="0" algn="l">
              <a:lnSpc>
                <a:spcPct val="80000"/>
              </a:lnSpc>
              <a:buNone/>
            </a:pPr>
            <a:r>
              <a:rPr lang="en-US" sz="6400" kern="100" spc="-224" dirty="0">
                <a:solidFill>
                  <a:srgbClr val="FF5A7A"/>
                </a:solidFill>
                <a:latin typeface="Montserrat SemiBold" pitchFamily="34" charset="0"/>
                <a:ea typeface="Montserrat SemiBold" pitchFamily="34" charset="-122"/>
                <a:cs typeface="Montserrat SemiBold" pitchFamily="34" charset="0"/>
              </a:rPr>
              <a:t>≥50%</a:t>
            </a:r>
            <a:endParaRPr lang="en-US" sz="6400" dirty="0"/>
          </a:p>
        </p:txBody>
      </p:sp>
      <p:sp>
        <p:nvSpPr>
          <p:cNvPr id="8" name="Text 5"/>
          <p:cNvSpPr/>
          <p:nvPr/>
        </p:nvSpPr>
        <p:spPr>
          <a:xfrm>
            <a:off x="8656024" y="1654572"/>
            <a:ext cx="3129281"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0"/>
              </a:rPr>
              <a:t>Fewer vehicles on this move: 1 container vs at least 2 trucks.</a:t>
            </a:r>
            <a:endParaRPr lang="en-US" sz="1700" dirty="0"/>
          </a:p>
        </p:txBody>
      </p:sp>
      <p:sp>
        <p:nvSpPr>
          <p:cNvPr id="9" name="Text 6"/>
          <p:cNvSpPr/>
          <p:nvPr/>
        </p:nvSpPr>
        <p:spPr>
          <a:xfrm>
            <a:off x="8656024" y="2382996"/>
            <a:ext cx="3129281"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A89598"/>
                </a:solidFill>
                <a:latin typeface="Heebo" pitchFamily="34" charset="0"/>
                <a:ea typeface="Heebo" pitchFamily="34" charset="-122"/>
                <a:cs typeface="Heebo" pitchFamily="34" charset="0"/>
              </a:rPr>
              <a:t>The 17 ft truck alone is at 105% by volume.</a:t>
            </a:r>
            <a:endParaRPr lang="en-US" sz="1150" dirty="0"/>
          </a:p>
        </p:txBody>
      </p:sp>
      <p:sp>
        <p:nvSpPr>
          <p:cNvPr id="10" name="Text 7"/>
          <p:cNvSpPr/>
          <p:nvPr/>
        </p:nvSpPr>
        <p:spPr>
          <a:xfrm>
            <a:off x="5374446" y="2763143"/>
            <a:ext cx="3129182" cy="2967633"/>
          </a:xfrm>
          <a:prstGeom prst="rect">
            <a:avLst/>
          </a:prstGeom>
          <a:noFill/>
          <a:ln/>
        </p:spPr>
        <p:txBody>
          <a:bodyPr wrap="square" lIns="0" tIns="0" rIns="0" bIns="0" rtlCol="0" anchor="t">
            <a:normAutofit/>
          </a:bodyPr>
          <a:lstStyle/>
          <a:p>
            <a:pPr marL="0" indent="0" algn="l">
              <a:lnSpc>
                <a:spcPct val="117000"/>
              </a:lnSpc>
              <a:spcAft>
                <a:spcPts val="950"/>
              </a:spcAft>
              <a:buNone/>
            </a:pPr>
            <a:r>
              <a:rPr lang="en-US" sz="1700" b="1" dirty="0">
                <a:solidFill>
                  <a:srgbClr val="FF8761"/>
                </a:solidFill>
                <a:latin typeface="Heebo Bold" pitchFamily="34" charset="0"/>
                <a:ea typeface="Heebo Bold" pitchFamily="34" charset="-122"/>
                <a:cs typeface="Heebo Bold" pitchFamily="34" charset="0"/>
              </a:rPr>
              <a:t>Weeks 1–2</a:t>
            </a:r>
            <a:r>
              <a:rPr lang="en-US" sz="1700" dirty="0">
                <a:solidFill>
                  <a:srgbClr val="E6D9D8"/>
                </a:solidFill>
                <a:latin typeface="Heebo Light" pitchFamily="34" charset="0"/>
                <a:ea typeface="Heebo Light" pitchFamily="34" charset="-122"/>
                <a:cs typeface="Heebo Light" pitchFamily="34" charset="0"/>
              </a:rPr>
              <a:t> · Capture item master and last 3 months of loads</a:t>
            </a:r>
            <a:endParaRPr lang="en-US" sz="1700" dirty="0"/>
          </a:p>
          <a:p>
            <a:pPr marL="0" indent="0" algn="l">
              <a:lnSpc>
                <a:spcPct val="117000"/>
              </a:lnSpc>
              <a:spcAft>
                <a:spcPts val="950"/>
              </a:spcAft>
              <a:buNone/>
            </a:pPr>
            <a:r>
              <a:rPr lang="en-US" sz="1700" b="1" dirty="0">
                <a:solidFill>
                  <a:srgbClr val="FF8761"/>
                </a:solidFill>
                <a:latin typeface="Heebo Bold" pitchFamily="34" charset="0"/>
                <a:ea typeface="Heebo Bold" pitchFamily="34" charset="-122"/>
                <a:cs typeface="Heebo Bold" pitchFamily="34" charset="0"/>
              </a:rPr>
              <a:t>Weeks 3–6</a:t>
            </a:r>
            <a:r>
              <a:rPr lang="en-US" sz="1700" dirty="0">
                <a:solidFill>
                  <a:srgbClr val="E6D9D8"/>
                </a:solidFill>
                <a:latin typeface="Heebo Light" pitchFamily="34" charset="0"/>
                <a:ea typeface="Heebo Light" pitchFamily="34" charset="-122"/>
                <a:cs typeface="Heebo Light" pitchFamily="34" charset="0"/>
              </a:rPr>
              <a:t> · Pilot planner on one route; compare to actual loads</a:t>
            </a:r>
            <a:endParaRPr lang="en-US" sz="1700" dirty="0"/>
          </a:p>
          <a:p>
            <a:pPr marL="0" indent="0" algn="l">
              <a:lnSpc>
                <a:spcPct val="117000"/>
              </a:lnSpc>
              <a:buNone/>
            </a:pPr>
            <a:r>
              <a:rPr lang="en-US" sz="1700" b="1" dirty="0">
                <a:solidFill>
                  <a:srgbClr val="FF8761"/>
                </a:solidFill>
                <a:latin typeface="Heebo Bold" pitchFamily="34" charset="0"/>
                <a:ea typeface="Heebo Bold" pitchFamily="34" charset="-122"/>
                <a:cs typeface="Heebo Bold" pitchFamily="34" charset="0"/>
              </a:rPr>
              <a:t>Weeks 7–12</a:t>
            </a:r>
            <a:r>
              <a:rPr lang="en-US" sz="1700" dirty="0">
                <a:solidFill>
                  <a:srgbClr val="E6D9D8"/>
                </a:solidFill>
                <a:latin typeface="Heebo Light" pitchFamily="34" charset="0"/>
                <a:ea typeface="Heebo Light" pitchFamily="34" charset="-122"/>
                <a:cs typeface="Heebo Light" pitchFamily="34" charset="0"/>
              </a:rPr>
              <a:t> · Add re-planning and peak batching; scale to all routes</a:t>
            </a:r>
            <a:endParaRPr lang="en-US" sz="1700" dirty="0"/>
          </a:p>
        </p:txBody>
      </p:sp>
      <p:sp>
        <p:nvSpPr>
          <p:cNvPr id="11" name="Text 8"/>
          <p:cNvSpPr/>
          <p:nvPr/>
        </p:nvSpPr>
        <p:spPr>
          <a:xfrm>
            <a:off x="8656024" y="2763143"/>
            <a:ext cx="3129281" cy="1452463"/>
          </a:xfrm>
          <a:prstGeom prst="rect">
            <a:avLst/>
          </a:prstGeom>
          <a:noFill/>
          <a:ln/>
        </p:spPr>
        <p:txBody>
          <a:bodyPr wrap="square" lIns="0" tIns="0" rIns="0" bIns="0" rtlCol="0" anchor="t">
            <a:normAutofit/>
          </a:bodyPr>
          <a:lstStyle/>
          <a:p>
            <a:pPr marL="0" indent="0" algn="l">
              <a:lnSpc>
                <a:spcPct val="108000"/>
              </a:lnSpc>
              <a:spcAft>
                <a:spcPts val="950"/>
              </a:spcAft>
              <a:buNone/>
            </a:pPr>
            <a:r>
              <a:rPr lang="en-US" sz="1150" kern="100" spc="17" dirty="0">
                <a:solidFill>
                  <a:srgbClr val="A89598"/>
                </a:solidFill>
                <a:latin typeface="Heebo" pitchFamily="34" charset="0"/>
                <a:ea typeface="Heebo" pitchFamily="34" charset="-122"/>
                <a:cs typeface="Heebo" pitchFamily="34" charset="0"/>
              </a:rPr>
              <a:t>KPIs: space used %, vehicles per move, damage claims, planning time, late-order acceptance.</a:t>
            </a:r>
            <a:endParaRPr lang="en-US" sz="1150" dirty="0"/>
          </a:p>
          <a:p>
            <a:pPr marL="0" indent="0" algn="l">
              <a:lnSpc>
                <a:spcPct val="108000"/>
              </a:lnSpc>
              <a:buNone/>
            </a:pPr>
            <a:r>
              <a:rPr lang="en-US" sz="1150" kern="100" spc="17" dirty="0">
                <a:solidFill>
                  <a:srgbClr val="A89598"/>
                </a:solidFill>
                <a:latin typeface="Heebo" pitchFamily="34" charset="0"/>
                <a:ea typeface="Heebo" pitchFamily="34" charset="-122"/>
                <a:cs typeface="Heebo" pitchFamily="34" charset="0"/>
              </a:rPr>
              <a:t>No cost data was supplied, so savings are stated in trips; apply your rate card. The planning buffer and the 80% base support are assumptions to calibrate in the pilot.</a:t>
            </a:r>
            <a:endParaRPr lang="en-US" sz="1150" dirty="0"/>
          </a:p>
        </p:txBody>
      </p:sp>
      <p:pic>
        <p:nvPicPr>
          <p:cNvPr id="13" name="Picture 12">
            <a:extLst>
              <a:ext uri="{FF2B5EF4-FFF2-40B4-BE49-F238E27FC236}">
                <a16:creationId xmlns:a16="http://schemas.microsoft.com/office/drawing/2014/main" id="{964E1EC9-C520-78BE-6AC4-857E9D46CE18}"/>
              </a:ext>
            </a:extLst>
          </p:cNvPr>
          <p:cNvPicPr>
            <a:picLocks noChangeAspect="1"/>
          </p:cNvPicPr>
          <p:nvPr/>
        </p:nvPicPr>
        <p:blipFill>
          <a:blip r:embed="rId4"/>
          <a:stretch>
            <a:fillRect/>
          </a:stretch>
        </p:blipFill>
        <p:spPr>
          <a:xfrm>
            <a:off x="10950408" y="6513194"/>
            <a:ext cx="1241592" cy="34480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950</Words>
  <Application>Microsoft Office PowerPoint</Application>
  <PresentationFormat>Widescreen</PresentationFormat>
  <Paragraphs>83</Paragraphs>
  <Slides>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Heebo Bold</vt:lpstr>
      <vt:lpstr>Heebo SemiBold</vt:lpstr>
      <vt:lpstr>Heebo Medium</vt:lpstr>
      <vt:lpstr>Montserrat Medium</vt:lpstr>
      <vt:lpstr>Heebo Light</vt:lpstr>
      <vt:lpstr>Arial</vt:lpstr>
      <vt:lpstr>Montserrat SemiBold</vt:lpstr>
      <vt:lpstr>Heebo</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Aditya Pandey</dc:creator>
  <cp:lastModifiedBy>Aditi Pandey</cp:lastModifiedBy>
  <cp:revision>3</cp:revision>
  <dcterms:created xsi:type="dcterms:W3CDTF">2026-10-29T13:48:35Z</dcterms:created>
  <dcterms:modified xsi:type="dcterms:W3CDTF">2026-10-29T13:53:40Z</dcterms:modified>
</cp:coreProperties>
</file>